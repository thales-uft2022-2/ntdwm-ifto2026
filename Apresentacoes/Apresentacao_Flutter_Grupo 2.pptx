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548640"/>
            <a:ext cx="1920240" cy="19202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22860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3474720"/>
            <a:ext cx="1188720" cy="11887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0" y="4389120"/>
            <a:ext cx="1463040" cy="14630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640080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EF5E6"/>
                </a:solidFill>
                <a:latin typeface="Aptos"/>
              </a:defRPr>
            </a:pPr>
            <a:r>
              <a:t>GRUPOS 1 E 2 • APRESENTAÇÃO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949440" cy="1417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Flutter:</a:t>
            </a:r>
          </a:p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desenvolvimento multiplataforma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6400800" cy="5943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CBD5E1"/>
                </a:solidFill>
                <a:latin typeface="Aptos"/>
              </a:defRPr>
            </a:pPr>
            <a:r>
              <a:t>Arquitetura • Widgets • MVC • Hot Reload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6400800" cy="4572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BEF5E6"/>
                </a:solidFill>
                <a:latin typeface="Aptos"/>
              </a:defRPr>
            </a:pPr>
            <a:r>
              <a:t>Aplicação prática: TaskFlow — lista de tarefas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72200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Disciplina: 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26364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94A3B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9688"/>
                </a:solidFill>
                <a:latin typeface="Aptos"/>
              </a:defRPr>
            </a:pPr>
            <a:r>
              <a:t>ROTEIRO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0F172A"/>
                </a:solidFill>
                <a:latin typeface="Aptos"/>
              </a:defRPr>
            </a:pPr>
            <a:r>
              <a:t>O que vamos demonstrar?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97280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Da motivação técnica à execução de uma aplicação.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10512"/>
            <a:ext cx="274320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Multiplataforma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685800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A697D"/>
                </a:solidFill>
                <a:latin typeface="Aptos"/>
              </a:defRPr>
            </a:pPr>
            <a:r>
              <a:t>Problema, alternativas e trade-offs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33472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06624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15184"/>
            <a:ext cx="274320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Arquitetura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33472"/>
            <a:ext cx="685800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A697D"/>
                </a:solidFill>
                <a:latin typeface="Aptos"/>
              </a:defRPr>
            </a:pPr>
            <a:r>
              <a:t>Engine, Framework, Widgets e Dart SDK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438144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11296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19856"/>
            <a:ext cx="274320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438144"/>
            <a:ext cx="685800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A697D"/>
                </a:solidFill>
                <a:latin typeface="Aptos"/>
              </a:defRPr>
            </a:pPr>
            <a:r>
              <a:t>Árvore de widgets e layout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242816"/>
            <a:ext cx="457200" cy="4572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1596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24528"/>
            <a:ext cx="274320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Aplicação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242816"/>
            <a:ext cx="685800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A697D"/>
                </a:solidFill>
                <a:latin typeface="Aptos"/>
              </a:defRPr>
            </a:pPr>
            <a:r>
              <a:t>TaskFlow com duas telas e MVC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047488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029200"/>
            <a:ext cx="274320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Produtividade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047488"/>
            <a:ext cx="685800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A697D"/>
                </a:solidFill>
                <a:latin typeface="Aptos"/>
              </a:defRPr>
            </a:pPr>
            <a:r>
              <a:t>Hot Reload, Hot Restart e limitações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A697D"/>
                </a:solidFill>
                <a:latin typeface="Aptos"/>
              </a:defRPr>
            </a:pPr>
            <a:r>
              <a:t>FLUTTER • DESENVOLVIMENTO MULTIPLATAFORMA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A697D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9688"/>
                </a:solidFill>
                <a:latin typeface="Aptos"/>
              </a:defRPr>
            </a:pPr>
            <a:r>
              <a:t>01 •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0F172A"/>
                </a:solidFill>
                <a:latin typeface="Aptos"/>
              </a:defRPr>
            </a:pPr>
            <a:r>
              <a:t>Por que multiplataforma?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97280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Compartilhar a base de código sem ignorar diferenças entre plataformas.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75104"/>
            <a:ext cx="3154679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Nativo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95728"/>
            <a:ext cx="3154679" cy="11887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Android: Kotlin/Java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 iOS: Swift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Integração direta; mais implementação separada.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64008" cy="1828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75104"/>
            <a:ext cx="3154679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Flutter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95728"/>
            <a:ext cx="3154679" cy="11887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Dart + widgets próprios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Base compartilhada para Android, iOS e Web compatível.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64008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75104"/>
            <a:ext cx="3154679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React Native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95728"/>
            <a:ext cx="3154679" cy="11887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JavaScript/TypeScript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Componentes integrados à interface nativa.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69080"/>
            <a:ext cx="457200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Aptos"/>
              </a:defRPr>
            </a:pPr>
            <a:r>
              <a:t>O que resolve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5029200" cy="1417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0F172A"/>
                </a:solidFill>
                <a:latin typeface="Aptos"/>
              </a:defRPr>
            </a:pPr>
            <a:r>
              <a:t>•  Reduz duplicação de lógica e UI.</a:t>
            </a:r>
          </a:p>
          <a:p>
            <a:pPr>
              <a:spcAft>
                <a:spcPts val="600"/>
              </a:spcAft>
              <a:defRPr sz="1400" b="0">
                <a:solidFill>
                  <a:srgbClr val="0F172A"/>
                </a:solidFill>
                <a:latin typeface="Aptos"/>
              </a:defRPr>
            </a:pPr>
            <a:r>
              <a:t>•  Ajuda a manter consistência visual.</a:t>
            </a:r>
          </a:p>
          <a:p>
            <a:pPr>
              <a:spcAft>
                <a:spcPts val="600"/>
              </a:spcAft>
              <a:defRPr sz="1400" b="0">
                <a:solidFill>
                  <a:srgbClr val="0F172A"/>
                </a:solidFill>
                <a:latin typeface="Aptos"/>
              </a:defRPr>
            </a:pPr>
            <a:r>
              <a:t>•  Hot Reload acelera a iteração.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069080"/>
            <a:ext cx="457200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Aptos"/>
              </a:defRPr>
            </a:pPr>
            <a:r>
              <a:t>Trade-offs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434840"/>
            <a:ext cx="5212080" cy="1417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0F172A"/>
                </a:solidFill>
                <a:latin typeface="Aptos"/>
              </a:defRPr>
            </a:pPr>
            <a:r>
              <a:t>•  Aprender Dart e o modelo de widgets.</a:t>
            </a:r>
          </a:p>
          <a:p>
            <a:pPr>
              <a:spcAft>
                <a:spcPts val="600"/>
              </a:spcAft>
              <a:defRPr sz="1400" b="0">
                <a:solidFill>
                  <a:srgbClr val="0F172A"/>
                </a:solidFill>
                <a:latin typeface="Aptos"/>
              </a:defRPr>
            </a:pPr>
            <a:r>
              <a:t>•  Tamanho inicial pode ser maior.</a:t>
            </a:r>
          </a:p>
          <a:p>
            <a:pPr>
              <a:spcAft>
                <a:spcPts val="600"/>
              </a:spcAft>
              <a:defRPr sz="1400" b="0">
                <a:solidFill>
                  <a:srgbClr val="0F172A"/>
                </a:solidFill>
                <a:latin typeface="Aptos"/>
              </a:defRPr>
            </a:pPr>
            <a:r>
              <a:t>•  APIs específicas podem exigir plugins/código nativo.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A697D"/>
                </a:solidFill>
                <a:latin typeface="Aptos"/>
              </a:defRPr>
            </a:pPr>
            <a:r>
              <a:t>FLUTTER • DESENVOLVIMENTO MULTIPLATAFORMA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A697D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9688"/>
                </a:solidFill>
                <a:latin typeface="Aptos"/>
              </a:defRPr>
            </a:pPr>
            <a:r>
              <a:t>02 •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0F172A"/>
                </a:solidFill>
                <a:latin typeface="Aptos"/>
              </a:defRPr>
            </a:pPr>
            <a:r>
              <a:t>Como as camadas se conectam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97280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A aplicação descreve a UI; o Framework organiza; a Engine renderiza.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6675120" cy="566928"/>
          </a:xfrm>
          <a:prstGeom prst="roundRect">
            <a:avLst/>
          </a:prstGeom>
          <a:solidFill>
            <a:srgbClr val="CDFAEB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1938528"/>
            <a:ext cx="210312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ptos"/>
              </a:defRPr>
            </a:pPr>
            <a:r>
              <a:t>APLICAÇÃO DART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938528"/>
            <a:ext cx="4023360" cy="25603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F172A"/>
                </a:solidFill>
                <a:latin typeface="Aptos"/>
              </a:defRPr>
            </a:pPr>
            <a:r>
              <a:t>Telas, regras e estado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368296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5A697D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633472"/>
            <a:ext cx="6675120" cy="566928"/>
          </a:xfrm>
          <a:prstGeom prst="roundRect">
            <a:avLst/>
          </a:prstGeom>
          <a:solidFill>
            <a:srgbClr val="E0F2F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743200"/>
            <a:ext cx="210312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ptos"/>
              </a:defRPr>
            </a:pPr>
            <a:r>
              <a:t>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743200"/>
            <a:ext cx="4023360" cy="25603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F172A"/>
                </a:solidFill>
                <a:latin typeface="Aptos"/>
              </a:defRPr>
            </a:pPr>
            <a:r>
              <a:t>Widgets, layout, Material, animações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17296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5A697D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438144"/>
            <a:ext cx="6675120" cy="566928"/>
          </a:xfrm>
          <a:prstGeom prst="roundRect">
            <a:avLst/>
          </a:prstGeom>
          <a:solidFill>
            <a:srgbClr val="FFEDD5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3547872"/>
            <a:ext cx="210312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ptos"/>
              </a:defRPr>
            </a:pPr>
            <a:r>
              <a:t>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547872"/>
            <a:ext cx="4023360" cy="25603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F172A"/>
                </a:solidFill>
                <a:latin typeface="Aptos"/>
              </a:defRPr>
            </a:pPr>
            <a:r>
              <a:t>Texto, composição, renderização e integração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977639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5A697D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242816"/>
            <a:ext cx="6675120" cy="566928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4352544"/>
            <a:ext cx="210312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ptos"/>
              </a:defRPr>
            </a:pPr>
            <a:r>
              <a:t>PLATAFORMA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352544"/>
            <a:ext cx="4023360" cy="25603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F172A"/>
                </a:solidFill>
                <a:latin typeface="Aptos"/>
              </a:defRPr>
            </a:pPr>
            <a:r>
              <a:t>Android • iOS • Web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148840"/>
            <a:ext cx="1783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2148840"/>
            <a:ext cx="64008" cy="1828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295144"/>
            <a:ext cx="146304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Dart SDK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715768"/>
            <a:ext cx="1463040" cy="11887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Linguagem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Bibliotecas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Ferramentas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2148840"/>
            <a:ext cx="1783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29800" y="2148840"/>
            <a:ext cx="64008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2295144"/>
            <a:ext cx="146304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Renderização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715768"/>
            <a:ext cx="1463040" cy="11887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Skia tradicional; Impeller em plataformas compatíveis.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32120"/>
            <a:ext cx="10515600" cy="4572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Flutter desenha a maior parte da UI sem depender dos widgets visuais nativos, mas continua integrando recursos do sistema.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A697D"/>
                </a:solidFill>
                <a:latin typeface="Aptos"/>
              </a:defRPr>
            </a:pPr>
            <a:r>
              <a:t>FLUTTER • DESENVOLVIMENTO MULTIPLATAFORMA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A697D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9688"/>
                </a:solidFill>
                <a:latin typeface="Aptos"/>
              </a:defRPr>
            </a:pPr>
            <a:r>
              <a:t>02 •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0F172A"/>
                </a:solidFill>
                <a:latin typeface="Aptos"/>
              </a:defRPr>
            </a:pPr>
            <a:r>
              <a:t>Engine e Dart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97280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A Engine fornece infraestrutura de renderização; o SDK oferece linguagem e ferramentas.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4008" cy="33375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75104"/>
            <a:ext cx="489204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Flutter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4892040" cy="26974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Renderização e composição gráfica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Texto e recursos de baixo nível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Integração com o sistema operacional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Skia é tradicional; Impeller também é usado em versões/plataformas compatíveis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64008" cy="3337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75104"/>
            <a:ext cx="489204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Dart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95728"/>
            <a:ext cx="4892040" cy="26974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Linguagem Dart e bibliotecas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JIT: compilação durante o desenvolvimento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AOT: compilação antecipada para produção nativa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Web: compilação para tecnologias suportadas pelo navegador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86400"/>
            <a:ext cx="10515600" cy="4114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A697D"/>
                </a:solidFill>
                <a:latin typeface="Aptos"/>
              </a:defRPr>
            </a:pPr>
            <a:r>
              <a:t>Plugins e canais de plataforma podem ser necessários para APIs específicas.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A697D"/>
                </a:solidFill>
                <a:latin typeface="Aptos"/>
              </a:defRPr>
            </a:pPr>
            <a:r>
              <a:t>FLUTTER • DESENVOLVIMENTO MULTIPLATAFORMA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A697D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9688"/>
                </a:solidFill>
                <a:latin typeface="Aptos"/>
              </a:defRPr>
            </a:pPr>
            <a:r>
              <a:t>03 •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0F172A"/>
                </a:solidFill>
                <a:latin typeface="Aptos"/>
              </a:defRPr>
            </a:pPr>
            <a:r>
              <a:t>Widgets: a interface como uma árvore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97280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O Framework usa a composição de widgets para calcular layout e atualizar a tela.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783080"/>
            <a:ext cx="32004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43983" y="1892807"/>
            <a:ext cx="3090672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Aptos"/>
              </a:defRPr>
            </a:pPr>
            <a:r>
              <a:t>MaterialApp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606040"/>
            <a:ext cx="32004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3983" y="2715768"/>
            <a:ext cx="3090672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Aptos"/>
              </a:defRPr>
            </a:pPr>
            <a:r>
              <a:t>Scaffold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3611880"/>
            <a:ext cx="2743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9304" y="3721608"/>
            <a:ext cx="2633472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Aptos"/>
              </a:defRPr>
            </a:pPr>
            <a:r>
              <a:t>AppBar →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611880"/>
            <a:ext cx="2743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8303" y="3721608"/>
            <a:ext cx="2633472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Aptos"/>
              </a:defRPr>
            </a:pPr>
            <a:r>
              <a:t>Column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611880"/>
            <a:ext cx="2743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4" y="3721608"/>
            <a:ext cx="2633472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Aptos"/>
              </a:defRPr>
            </a:pPr>
            <a:r>
              <a:t>FloatingActionButton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457200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9663" y="4681728"/>
            <a:ext cx="1901952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Aptos"/>
              </a:defRPr>
            </a:pPr>
            <a:r>
              <a:t>Row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57200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4681728"/>
            <a:ext cx="1901952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Aptos"/>
              </a:defRPr>
            </a:pPr>
            <a:r>
              <a:t>Container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32120"/>
            <a:ext cx="5120640" cy="4114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Aptos"/>
              </a:defRPr>
            </a:pPr>
            <a:r>
              <a:t>StatelessWidget: sem estado mutável próprio.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532120"/>
            <a:ext cx="5303520" cy="4114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Aptos"/>
              </a:defRPr>
            </a:pPr>
            <a:r>
              <a:t>StatefulWidget: a UI pode reagir a mudanças de estado.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A697D"/>
                </a:solidFill>
                <a:latin typeface="Aptos"/>
              </a:defRPr>
            </a:pPr>
            <a:r>
              <a:t>FLUTTER • DESENVOLVIMENTO MULTIPLATAFORMA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A697D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9688"/>
                </a:solidFill>
                <a:latin typeface="Aptos"/>
              </a:defRPr>
            </a:pPr>
            <a:r>
              <a:t>03 •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0F172A"/>
                </a:solidFill>
                <a:latin typeface="Aptos"/>
              </a:defRPr>
            </a:pPr>
            <a:r>
              <a:t>Widgets básicos em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97280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Scaffold, AppBar, Text, Column, Row e Container.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6400800" cy="4297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5943600" cy="38862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Cascadia Code"/>
              </a:defRPr>
            </a:pPr>
            <a:r>
              <a:t>Scaffold(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Cascadia Code"/>
              </a:defRPr>
            </a:pPr>
            <a:r>
              <a:t>  appBar: AppBar(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Cascadia Code"/>
              </a:defRPr>
            </a:pPr>
            <a:r>
              <a:t>    title: const Text('Minhas tarefas'),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Cascadia Code"/>
              </a:defRPr>
            </a:pPr>
            <a:r>
              <a:t>  ),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Cascadia Code"/>
              </a:defRPr>
            </a:pPr>
            <a:r>
              <a:t>  body: Column(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Cascadia Code"/>
              </a:defRPr>
            </a:pPr>
            <a:r>
              <a:t>    children: [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Cascadia Code"/>
              </a:defRPr>
            </a:pPr>
            <a:r>
              <a:t>      Container(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Cascadia Code"/>
              </a:defRPr>
            </a:pPr>
            <a:r>
              <a:t>        padding: const EdgeInsets.all(16),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Cascadia Code"/>
              </a:defRPr>
            </a:pPr>
            <a:r>
              <a:t>        child: const Text('Organize seu dia'),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Cascadia Code"/>
              </a:defRPr>
            </a:pPr>
            <a:r>
              <a:t>      ),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Cascadia Code"/>
              </a:defRPr>
            </a:pPr>
            <a:r>
              <a:t>      Row(children: const [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Cascadia Code"/>
              </a:defRPr>
            </a:pPr>
            <a:r>
              <a:t>        Icon(Icons.check_circle),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Cascadia Code"/>
              </a:defRPr>
            </a:pPr>
            <a:r>
              <a:t>        SizedBox(width: 8),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Cascadia Code"/>
              </a:defRPr>
            </a:pPr>
            <a:r>
              <a:t>        Text('3 tarefas concluídas'),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Cascadia Code"/>
              </a:defRPr>
            </a:pPr>
            <a:r>
              <a:t>      ]),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Cascadia Code"/>
              </a:defRPr>
            </a:pPr>
            <a:r>
              <a:t>    ],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Cascadia Code"/>
              </a:defRPr>
            </a:pPr>
            <a:r>
              <a:t>  ),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Cascadia Code"/>
              </a:defRPr>
            </a:pPr>
            <a: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828800"/>
            <a:ext cx="3931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1828800"/>
            <a:ext cx="64008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975104"/>
            <a:ext cx="3611879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Scaffold / AppBar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395728"/>
            <a:ext cx="3611879" cy="411479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Estrutura da tela e barra superior.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063240"/>
            <a:ext cx="3931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2360" y="3063240"/>
            <a:ext cx="64008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3209544"/>
            <a:ext cx="3611879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Column / 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630168"/>
            <a:ext cx="3611879" cy="411479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Organizam os filhos verticalmente / horizontalmente.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4297680"/>
            <a:ext cx="3931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4297680"/>
            <a:ext cx="64008" cy="10515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4443984"/>
            <a:ext cx="3611879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Container /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864608"/>
            <a:ext cx="3611879" cy="411479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Permitem decorar layout e exibir texto.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A697D"/>
                </a:solidFill>
                <a:latin typeface="Aptos"/>
              </a:defRPr>
            </a:pPr>
            <a:r>
              <a:t>FLUTTER • DESENVOLVIMENTO MULTIPLATAFORMA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A697D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9688"/>
                </a:solidFill>
                <a:latin typeface="Aptos"/>
              </a:defRPr>
            </a:pPr>
            <a:r>
              <a:t>04 • APLICAÇÃO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0F172A"/>
                </a:solidFill>
                <a:latin typeface="Aptos"/>
              </a:defRPr>
            </a:pPr>
            <a:r>
              <a:t>TaskFlow: uma aplicação pequena, mas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97280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Duas telas e operações reais demonstram navegação, estado e reutilização.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377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1031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ptos"/>
              </a:defRPr>
            </a:pPr>
            <a:r>
              <a:t>Lista de tarefas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828800"/>
            <a:ext cx="2377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2011680"/>
            <a:ext cx="21031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ptos"/>
              </a:defRPr>
            </a:pPr>
            <a:r>
              <a:t>Nova tarefa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2286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68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51760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  <a:latin typeface="Aptos"/>
              </a:defRPr>
            </a:pPr>
            <a:r>
              <a:t>Estudar Flutter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39"/>
            <a:ext cx="2286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5A697D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291839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0F172A"/>
                </a:solidFill>
                <a:latin typeface="Aptos"/>
              </a:defRPr>
            </a:pPr>
            <a:r>
              <a:t>Fazer atividade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31920"/>
            <a:ext cx="2286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5A697D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931920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0F172A"/>
                </a:solidFill>
                <a:latin typeface="Aptos"/>
              </a:defRPr>
            </a:pPr>
            <a:r>
              <a:t>Revisar slides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00600"/>
            <a:ext cx="137160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9688"/>
                </a:solidFill>
                <a:latin typeface="Aptos"/>
              </a:defRPr>
            </a:pPr>
            <a:r>
              <a:t>+ Nova tarefa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697480"/>
            <a:ext cx="182880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A697D"/>
                </a:solidFill>
                <a:latin typeface="Aptos"/>
              </a:defRPr>
            </a:pPr>
            <a:r>
              <a:t>Título da tarefa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3017520"/>
            <a:ext cx="1920240" cy="438912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3127248"/>
            <a:ext cx="173736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Ex.: Ler capítulo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3749039"/>
            <a:ext cx="192024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39" y="3858768"/>
            <a:ext cx="164592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Salvar tarefa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828800"/>
            <a:ext cx="4480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20840" y="1828800"/>
            <a:ext cx="64008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975104"/>
            <a:ext cx="41605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Adicionar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395728"/>
            <a:ext cx="41605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Validação de campo e retorno à lista.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2971800"/>
            <a:ext cx="4480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20840" y="2971800"/>
            <a:ext cx="64008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3118104"/>
            <a:ext cx="41605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Concluir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538728"/>
            <a:ext cx="41605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Checkbox altera o estado da tarefa.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4114800"/>
            <a:ext cx="4480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4114800"/>
            <a:ext cx="64008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4261104"/>
            <a:ext cx="41605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Remover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681728"/>
            <a:ext cx="41605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Botão exclui o item.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303520"/>
            <a:ext cx="429768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A697D"/>
                </a:solidFill>
                <a:latin typeface="Aptos"/>
              </a:defRPr>
            </a:pPr>
            <a:r>
              <a:t>Exemplo didático: dados em memória.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A697D"/>
                </a:solidFill>
                <a:latin typeface="Aptos"/>
              </a:defRPr>
            </a:pPr>
            <a:r>
              <a:t>FLUTTER • DESENVOLVIMENTO MULTIPLATAFORMA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A697D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9688"/>
                </a:solidFill>
                <a:latin typeface="Aptos"/>
              </a:defRPr>
            </a:pPr>
            <a:r>
              <a:t>05 • ORGANIZAÇÃO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0F172A"/>
                </a:solidFill>
                <a:latin typeface="Aptos"/>
              </a:defRPr>
            </a:pPr>
            <a:r>
              <a:t>MVC: separação real de responsabilidades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97280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A View apresenta; o Controller coordena ações; o Model representa os dados.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64008" cy="2057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20824"/>
            <a:ext cx="306324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41448"/>
            <a:ext cx="3063240" cy="1417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lista_tarefas_view.dart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nova_tarefa_view.dart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Desenha telas e recebe interações.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74519"/>
            <a:ext cx="64008" cy="2057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20824"/>
            <a:ext cx="306324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41448"/>
            <a:ext cx="3063240" cy="1417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tarefa_controller.dart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Adicionar, concluir, remover e notificar mudanças.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74519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874519"/>
            <a:ext cx="64008" cy="2057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2020824"/>
            <a:ext cx="306324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441448"/>
            <a:ext cx="3063240" cy="1417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tarefa.dart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ID, título e estado de conclusão.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34840"/>
            <a:ext cx="1051560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Aptos"/>
              </a:defRPr>
            </a:pPr>
            <a:r>
              <a:t>Fluxo de 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10515600" cy="6400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A697D"/>
                </a:solidFill>
                <a:latin typeface="Aptos"/>
              </a:defRPr>
            </a:pPr>
            <a:r>
              <a:t>Usuário → View → Controller → Model → Controller notifica → View reconstrói a lista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9688"/>
                </a:solidFill>
                <a:latin typeface="Aptos"/>
              </a:defRPr>
            </a:pPr>
            <a:r>
              <a:t>Benefício: regras e dados não ficam misturados no código visual.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A697D"/>
                </a:solidFill>
                <a:latin typeface="Aptos"/>
              </a:defRPr>
            </a:pPr>
            <a:r>
              <a:t>FLUTTER • DESENVOLVIMENTO MULTIPLATAFORMA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A697D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9688"/>
                </a:solidFill>
                <a:latin typeface="Aptos"/>
              </a:defRPr>
            </a:pPr>
            <a:r>
              <a:t>06 • CICLO DE DESENVOLVIMENTO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0F172A"/>
                </a:solidFill>
                <a:latin typeface="Aptos"/>
              </a:defRPr>
            </a:pPr>
            <a:r>
              <a:t>Hot Reload x Hot Restart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97280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Demonstração sugerida: mudar o título, salvar e observar o resultado.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2120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4008" cy="22402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75104"/>
            <a:ext cx="489204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Hot Reload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4892040" cy="16002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Aplica alterações compatíveis sem reiniciar toda a aplicação.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Preserva normalmente o estado em memória.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Ideal para texto, cores, espaçamentos e widgets.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120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64008" cy="2240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75104"/>
            <a:ext cx="489204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Hot Restart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95728"/>
            <a:ext cx="4892040" cy="16002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Reinicia a execução Dart desde main().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Perde o estado em memória.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Útil quando a alteração exige reinicialização.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05840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Aptos"/>
              </a:defRPr>
            </a:pPr>
            <a:r>
              <a:t>Passos da demonstração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46320"/>
            <a:ext cx="10424160" cy="11887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•  Execute flutter run em um emulador/dispositivo.</a:t>
            </a:r>
          </a:p>
          <a:p>
            <a:pPr>
              <a:spcAft>
                <a:spcPts val="6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•  Altere o texto do AppBar e use r no terminal interativo para Hot Reload.</a:t>
            </a:r>
          </a:p>
          <a:p>
            <a:pPr>
              <a:spcAft>
                <a:spcPts val="6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•  Use R para Hot Restart e observe o estado reiniciar.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A697D"/>
                </a:solidFill>
                <a:latin typeface="Aptos"/>
              </a:defRPr>
            </a:pPr>
            <a:r>
              <a:t>FLUTTER • DESENVOLVIMENTO MULTIPLATAFORMA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A697D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9688"/>
                </a:solidFill>
                <a:latin typeface="Aptos"/>
              </a:defRPr>
            </a:pPr>
            <a:r>
              <a:t>07 • AVALIAÇÃO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0F172A"/>
                </a:solidFill>
                <a:latin typeface="Aptos"/>
              </a:defRPr>
            </a:pPr>
            <a:r>
              <a:t>Vantagens e limitações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97280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A escolha depende do produto, da equipe e da integração necessária.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2120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4008" cy="3291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75104"/>
            <a:ext cx="489204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Vantagens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4892040" cy="2651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Código compartilhado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UI consistente e personalizável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Produtividade com Hot Reload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Bom desempenho em muitas aplicações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Ecossistema de widgets e plugins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120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64008" cy="3291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75104"/>
            <a:ext cx="489204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Limitações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95728"/>
            <a:ext cx="4892040" cy="2651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Curva de aprendizado de Dart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Tamanho inicial pode ser maior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Plugins variam em maturidade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APIs exclusivas podem exigir código nativo</a:t>
            </a:r>
          </a:p>
          <a:p>
            <a:pPr>
              <a:spcAft>
                <a:spcPts val="600"/>
              </a:spcAft>
              <a:defRPr sz="1300" b="0">
                <a:solidFill>
                  <a:srgbClr val="5A697D"/>
                </a:solidFill>
                <a:latin typeface="Aptos"/>
              </a:defRPr>
            </a:pPr>
            <a:r>
              <a:t>• Web exige atenção a SEO e carregamento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864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Aptos"/>
              </a:defRPr>
            </a:pPr>
            <a:r>
              <a:t>Flutter é forte quando o compartilhamento e a consistência visual compensam as particularidades de cada plataforma.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A697D"/>
                </a:solidFill>
                <a:latin typeface="Aptos"/>
              </a:defRPr>
            </a:pPr>
            <a:r>
              <a:t>FLUTTER • DESENVOLVIMENTO MULTIPLATAFORMA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A697D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51560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BEF5E6"/>
                </a:solidFill>
                <a:latin typeface="Aptos"/>
              </a:defRPr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7315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Uma base de código. Várias plataformas.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9875520" cy="10972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CBD5E1"/>
                </a:solidFill>
                <a:latin typeface="Aptos"/>
              </a:defRPr>
            </a:pPr>
            <a:r>
              <a:t>Flutter combina Dart, um framework declarativo de widgets e uma engine de renderização para acelerar aplicações com interface consistente.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977639"/>
            <a:ext cx="3337560" cy="1143000"/>
          </a:xfrm>
          <a:prstGeom prst="roundRect">
            <a:avLst/>
          </a:prstGeom>
          <a:solidFill>
            <a:srgbClr val="192741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160520"/>
            <a:ext cx="292608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Arquitetura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526280"/>
            <a:ext cx="292608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CBD5E1"/>
                </a:solidFill>
                <a:latin typeface="Aptos"/>
              </a:defRPr>
            </a:pPr>
            <a:r>
              <a:t>Engine + Framework + Dart SDK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3977639"/>
            <a:ext cx="3337560" cy="1143000"/>
          </a:xfrm>
          <a:prstGeom prst="roundRect">
            <a:avLst/>
          </a:prstGeom>
          <a:solidFill>
            <a:srgbClr val="19274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4160520"/>
            <a:ext cx="292608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Organização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526280"/>
            <a:ext cx="292608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CBD5E1"/>
                </a:solidFill>
                <a:latin typeface="Aptos"/>
              </a:defRPr>
            </a:pPr>
            <a:r>
              <a:t>MVC separa View, Controller e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977639"/>
            <a:ext cx="3337560" cy="1143000"/>
          </a:xfrm>
          <a:prstGeom prst="roundRect">
            <a:avLst/>
          </a:prstGeom>
          <a:solidFill>
            <a:srgbClr val="192741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4160520"/>
            <a:ext cx="292608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Produtividade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4526280"/>
            <a:ext cx="292608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CBD5E1"/>
                </a:solidFill>
                <a:latin typeface="Aptos"/>
              </a:defRPr>
            </a:pPr>
            <a:r>
              <a:t>Hot Reload acelera experimentação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97880"/>
            <a:ext cx="731520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BEF5E6"/>
                </a:solidFill>
                <a:latin typeface="Aptos"/>
              </a:defRPr>
            </a:pPr>
            <a:r>
              <a:t>Dúvidas?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26364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94A3B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