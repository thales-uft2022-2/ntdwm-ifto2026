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7E2FF"/>
                </a:solidFill>
                <a:latin typeface="Aptos"/>
              </a:defRPr>
            </a:pPr>
            <a:r>
              <a:t>DESENVOLVIMENTO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Navegação e</a:t>
            </a:r>
          </a:p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Gerenciamento de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7E2FF"/>
                </a:solidFill>
                <a:latin typeface="Aptos"/>
              </a:defRPr>
            </a:pPr>
            <a:r>
              <a:t>React Native • React Navigation • Context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663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Aluno(a): [Seu nome]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Disciplina: [Nome da disciplina] • Instituição: [Nome]</a:t>
            </a:r>
          </a:p>
        </p:txBody>
      </p:sp>
      <p:sp>
        <p:nvSpPr>
          <p:cNvPr id="7" name="Oval 6"/>
          <p:cNvSpPr/>
          <p:nvPr/>
        </p:nvSpPr>
        <p:spPr>
          <a:xfrm>
            <a:off x="8595360" y="1463040"/>
            <a:ext cx="2286000" cy="2286000"/>
          </a:xfrm>
          <a:prstGeom prst="ellipse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011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SF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Objetivo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01 • VISÃO GERAL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22033"/>
                </a:solidFill>
                <a:latin typeface="Aptos"/>
              </a:defRPr>
            </a:pPr>
            <a:r>
              <a:t>• Explicar estado local e estado compartilhado em aplicações React.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22033"/>
                </a:solidFill>
                <a:latin typeface="Aptos"/>
              </a:defRPr>
            </a:pPr>
            <a:r>
              <a:t>• Demonstrar useState, useEffect e useContext em código funcional.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22033"/>
                </a:solidFill>
                <a:latin typeface="Aptos"/>
              </a:defRPr>
            </a:pPr>
            <a:r>
              <a:t>• Implementar Login, Dashboard e navegação por abas.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22033"/>
                </a:solidFill>
                <a:latin typeface="Aptos"/>
              </a:defRPr>
            </a:pPr>
            <a:r>
              <a:t>• Justificar a Context API e comparar Redux, Zustand e Recoil.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O que é estado?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02 • CONCEITOS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Estado é um dado que pode mudar durante a execução e afetar a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Estado local: pertence a um componente — exemplo: campos do Login e contador.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Estado compartilhado/global: consumido por diferentes componentes — exemplo: usuário autenticado.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22033"/>
                </a:solidFill>
                <a:latin typeface="Aptos"/>
              </a:defRPr>
            </a:pPr>
            <a:r>
              <a:t>• Atualizar o estado solicita nova renderização; não altere diretamente o valor anterior.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Os três hooks obrigatórios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03 •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useState: declara estado local e a função para atualizá-lo.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useEffect: executa efeitos após renderizações; as dependências controlam quando roda.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useContext: lê um valor de um Provider sem repassar props por vários níveis.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No app: useState guarda campos/contador; useEffect observa mudanças; useContext compartilha usuário.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React Navigation: Stack e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04 • NAVEGAÇÃO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Stack Navigator: organiza rotas em uma pilha de telas.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Navegar normalmente adiciona uma rota; voltar remove a rota superior.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Substituir troca a rota atual por outra, evitando voltar à anterior naquele ponto.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22033"/>
                </a:solidFill>
                <a:latin typeface="Aptos"/>
              </a:defRPr>
            </a:pPr>
            <a:r>
              <a:t>• Tab Navigator: oferece destinos paralelos, como Início e Perfil, em uma barra de abas.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Arquitetura do StateFlow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05 • FLUXO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1143000"/>
          </a:xfrm>
          <a:prstGeom prst="roundRect">
            <a:avLst/>
          </a:prstGeom>
          <a:solidFill>
            <a:srgbClr val="E7E2FF"/>
          </a:solidFill>
          <a:ln>
            <a:solidFill>
              <a:srgbClr val="5B4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22033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8667A"/>
                </a:solidFill>
                <a:latin typeface="Aptos"/>
              </a:defRPr>
            </a:pPr>
            <a:r>
              <a:t>nome + e-mail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743200" cy="1143000"/>
          </a:xfrm>
          <a:prstGeom prst="roundRect">
            <a:avLst/>
          </a:prstGeom>
          <a:solidFill>
            <a:srgbClr val="DDD7FF"/>
          </a:solidFill>
          <a:ln>
            <a:solidFill>
              <a:srgbClr val="5B4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196596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22033"/>
                </a:solidFill>
                <a:latin typeface="Aptos"/>
              </a:defRPr>
            </a:pPr>
            <a:r>
              <a:t>AuthProvider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35915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8667A"/>
                </a:solidFill>
                <a:latin typeface="Aptos"/>
              </a:defRPr>
            </a:pPr>
            <a:r>
              <a:t>user / signIn / signOut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828800"/>
            <a:ext cx="2103120" cy="1143000"/>
          </a:xfrm>
          <a:prstGeom prst="roundRect">
            <a:avLst/>
          </a:prstGeom>
          <a:solidFill>
            <a:srgbClr val="EBE8FA"/>
          </a:solidFill>
          <a:ln>
            <a:solidFill>
              <a:srgbClr val="5B4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965960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22033"/>
                </a:solidFill>
                <a:latin typeface="Aptos"/>
              </a:defRPr>
            </a:pPr>
            <a:r>
              <a:t>Root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359152"/>
            <a:ext cx="18836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8667A"/>
                </a:solidFill>
                <a:latin typeface="Aptos"/>
              </a:defRPr>
            </a:pPr>
            <a:r>
              <a:t>lê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B4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1463039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22033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1856231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8667A"/>
                </a:solidFill>
                <a:latin typeface="Aptos"/>
              </a:defRPr>
            </a:pPr>
            <a:r>
              <a:t>useContext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7432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B4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88036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22033"/>
                </a:solidFill>
                <a:latin typeface="Aptos"/>
              </a:defRPr>
            </a:pPr>
            <a:r>
              <a:t>Perfil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327355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8667A"/>
                </a:solidFill>
                <a:latin typeface="Aptos"/>
              </a:defRPr>
            </a:pPr>
            <a:r>
              <a:t>useContext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2395728"/>
            <a:ext cx="457200" cy="0"/>
          </a:xfrm>
          <a:prstGeom prst="line">
            <a:avLst/>
          </a:prstGeom>
          <a:ln w="25400">
            <a:solidFill>
              <a:srgbClr val="5B4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2395728"/>
            <a:ext cx="548640" cy="0"/>
          </a:xfrm>
          <a:prstGeom prst="line">
            <a:avLst/>
          </a:prstGeom>
          <a:ln w="25400">
            <a:solidFill>
              <a:srgbClr val="5B4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052560" y="1783080"/>
            <a:ext cx="457200" cy="365760"/>
          </a:xfrm>
          <a:prstGeom prst="line">
            <a:avLst/>
          </a:prstGeom>
          <a:ln w="25400">
            <a:solidFill>
              <a:srgbClr val="5B4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2560320"/>
            <a:ext cx="457200" cy="594360"/>
          </a:xfrm>
          <a:prstGeom prst="line">
            <a:avLst/>
          </a:prstGeom>
          <a:ln w="25400">
            <a:solidFill>
              <a:srgbClr val="5B4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6634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22033"/>
                </a:solidFill>
                <a:latin typeface="Aptos"/>
              </a:defRPr>
            </a:pPr>
            <a:r>
              <a:t>Sem usuário → Login | signIn atualiza o contexto → Stack mostra as abas | signOut limpa o estado → Login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Demonstração: Login 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06 • APLICAÇÃO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Digite nome e e-mail válidos no Login e toque em “Entrar no aplicativo”.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signIn atualiza user dentro do AuthProvider; o RootNavigator observa esse estado.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Dashboard exibe nome/e-mail por useContext e possui um contador local com useState.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Na aba Perfil, “Sair da conta” chama signOut; user volta a null e Login reaparece.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Context API: como e por que?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07 • ESTADO COMPARTILHADO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AuthProvider envolve a árvore de navegação e fornece user, signIn e signOut.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Login altera o estado; Dashboard e Perfil consomem os mesmos dados com useContext.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É suficiente para este projeto: poucas telas e um estado global simples.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Limitações: mudança no valor do Provider pode renderizar novamente os consumidores.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Comparação de soluções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08 • ESCOLHA DE FERRAMENTA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828800" cy="5029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35608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Solução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25880"/>
            <a:ext cx="1371600" cy="5029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3560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Complexidade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2926080" cy="5029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35608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Quando usar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325880"/>
            <a:ext cx="3931920" cy="502920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1435608"/>
            <a:ext cx="3785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Vantagens / limitações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1828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1947672"/>
            <a:ext cx="1682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22033"/>
                </a:solidFill>
                <a:latin typeface="Aptos"/>
              </a:defRPr>
            </a:pPr>
            <a:r>
              <a:t>Context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828800"/>
            <a:ext cx="13716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1947672"/>
            <a:ext cx="12252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Baixa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29260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1947672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Estado compartilhado simples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828800"/>
            <a:ext cx="39319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947672"/>
            <a:ext cx="378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Nativa; atenção a re-renderizações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33472"/>
            <a:ext cx="182880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752344"/>
            <a:ext cx="1682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22033"/>
                </a:solidFill>
                <a:latin typeface="Aptos"/>
              </a:defRPr>
            </a:pPr>
            <a:r>
              <a:t>Redux Toolkit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633472"/>
            <a:ext cx="137160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2752344"/>
            <a:ext cx="12252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Média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633472"/>
            <a:ext cx="292608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752344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Estado complexo e fluxo centralizado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633472"/>
            <a:ext cx="393192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2752344"/>
            <a:ext cx="378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Ecossistema maduro; mais estrutura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38144"/>
            <a:ext cx="1828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557015"/>
            <a:ext cx="1682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22033"/>
                </a:solidFill>
                <a:latin typeface="Aptos"/>
              </a:defRPr>
            </a:pPr>
            <a:r>
              <a:t>Zustand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438144"/>
            <a:ext cx="13716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3557015"/>
            <a:ext cx="12252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Baixa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438144"/>
            <a:ext cx="29260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3557015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Store global enxuta e seletores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438144"/>
            <a:ext cx="39319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3557015"/>
            <a:ext cx="378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Dependência extra; padrões a definir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42816"/>
            <a:ext cx="182880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4361688"/>
            <a:ext cx="1682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22033"/>
                </a:solidFill>
                <a:latin typeface="Aptos"/>
              </a:defRPr>
            </a:pPr>
            <a:r>
              <a:t>Recoil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242816"/>
            <a:ext cx="137160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4361688"/>
            <a:ext cx="12252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Média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242816"/>
            <a:ext cx="292608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4361688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Modelo de átomos/seletores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4242816"/>
            <a:ext cx="3931920" cy="804672"/>
          </a:xfrm>
          <a:prstGeom prst="rect">
            <a:avLst/>
          </a:prstGeom>
          <a:solidFill>
            <a:srgbClr val="EFEDF8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4361688"/>
            <a:ext cx="378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22033"/>
                </a:solidFill>
                <a:latin typeface="Aptos"/>
              </a:defRPr>
            </a:pPr>
            <a:r>
              <a:t>Projeto arquivado; evitar como padrão novo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5B43D6"/>
                </a:solidFill>
                <a:latin typeface="Aptos"/>
              </a:defRPr>
            </a:pPr>
            <a:r>
              <a:t>A ferramenta deve acompanhar a complexidade real — não ser escolhida apenas por popularidade.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Justificativa da escolha arquitetural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09 • DECISÃO ARQUITETURAL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Context API evita adicionar uma store externa para um estado pequeno.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Redux Toolkit seria considerado se houvesse múltiplos domínios, regras complexas e forte necessidade de DevTools.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Zustand seria uma alternativa simples se o estado global crescesse e exigisse seletores.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Recoil não foi escolhido: o projeto está arquivado e não é a opção padrão para novos projetos.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Performance e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10 • DESEMPENHO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Evite colocar dados sem relação no mesmo contexto amplo.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Use contextos separados por domínio quando a aplicação crescer.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useMemo estabiliza o objeto value; useCallback estabiliza funções do Provider.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Divida componentes e selecione apenas os dados necessários; meça antes de otimizar.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11 •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O projeto demonstra navegação condicional com Stack e destinos com Tab Navigator.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O usuário é compartilhado entre telas usando Context API e useContext.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Os hooks têm papéis distintos e foram aplicados em situações reais do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Próximos passos: integrar backend, autenticação segura e persistência de sessão.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22033"/>
                </a:solidFill>
                <a:latin typeface="Aptos"/>
              </a:defRPr>
            </a:pPr>
            <a:r>
              <a:t>Roteiro rápido da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43D6"/>
                </a:solidFill>
                <a:latin typeface="Aptos"/>
              </a:defRPr>
            </a:pPr>
            <a:r>
              <a:t>12 •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987552"/>
            <a:ext cx="1097280" cy="50292"/>
          </a:xfrm>
          <a:prstGeom prst="rect">
            <a:avLst/>
          </a:prstGeom>
          <a:solidFill>
            <a:srgbClr val="5B4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1. Executar o app com Expo Go ou emulador.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2. Entrar com nome e e-mail; mostrar o Dashboard e o contador.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3. Abrir a aba Perfil e conferir os dados compartilhados.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989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4. Sair da conta e mostrar o retorno ao Login.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4456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22033"/>
                </a:solidFill>
                <a:latin typeface="Aptos"/>
              </a:defRPr>
            </a:pPr>
            <a:r>
              <a:t>• Observação: login demonstrativo, sem servidor e sem autenticação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866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