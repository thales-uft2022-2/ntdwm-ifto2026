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365760"/>
            <a:ext cx="2194560" cy="2194560"/>
          </a:xfrm>
          <a:prstGeom prst="ellipse">
            <a:avLst/>
          </a:prstGeom>
          <a:solidFill>
            <a:srgbClr val="11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1828800"/>
            <a:ext cx="1554480" cy="1554480"/>
          </a:xfrm>
          <a:prstGeom prst="ellipse">
            <a:avLst/>
          </a:prstGeom>
          <a:solidFill>
            <a:srgbClr val="209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3840480"/>
            <a:ext cx="2468880" cy="2468880"/>
          </a:xfrm>
          <a:prstGeom prst="ellipse">
            <a:avLst/>
          </a:prstGeom>
          <a:solidFill>
            <a:srgbClr val="214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99E1C6"/>
                </a:solidFill>
                <a:latin typeface="Aptos"/>
              </a:defRPr>
            </a:pPr>
            <a:r>
              <a:t>TRABALHO • GRUPOS 3 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React Native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651760"/>
            <a:ext cx="7040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DAE9E3"/>
                </a:solidFill>
                <a:latin typeface="Aptos"/>
              </a:defRPr>
            </a:pPr>
            <a:r>
              <a:t>Arquitetura, componentes e desenvolvimento mobile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1663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99E1C6"/>
                </a:solidFill>
                <a:latin typeface="Aptos"/>
              </a:defRPr>
            </a:pPr>
            <a:r>
              <a:t>Fundamentos • Aplicação prática • Fast Refresh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Disciplina: NTDWB  |  Integrantes: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1795F"/>
                </a:solidFill>
                <a:latin typeface="Aptos"/>
              </a:defRPr>
            </a:pPr>
            <a:r>
              <a:t>01 • 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8302B"/>
                </a:solidFill>
                <a:latin typeface="Aptos"/>
              </a:defRPr>
            </a:pPr>
            <a:r>
              <a:t>Por que surgiu o React Native?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B6D67"/>
                </a:solidFill>
                <a:latin typeface="Aptos"/>
              </a:defRPr>
            </a:pPr>
            <a:r>
              <a:t>A proposta é compartilhar lógica e conhecimento sem transformar o app em uma página web.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35204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94560"/>
            <a:ext cx="64008" cy="3063240"/>
          </a:xfrm>
          <a:prstGeom prst="rect">
            <a:avLst/>
          </a:prstGeom>
          <a:solidFill>
            <a:srgbClr val="DC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221992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2B"/>
                </a:solidFill>
                <a:latin typeface="Aptos"/>
              </a:defRPr>
            </a:pPr>
            <a:r>
              <a:t>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79192"/>
            <a:ext cx="315468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Android e iOS podiam exigir implementações de interface e tecnologias diferentes.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57400"/>
            <a:ext cx="35204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194560"/>
            <a:ext cx="64008" cy="3063240"/>
          </a:xfrm>
          <a:prstGeom prst="rect">
            <a:avLst/>
          </a:prstGeom>
          <a:solidFill>
            <a:srgbClr val="11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221992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2B"/>
                </a:solidFill>
                <a:latin typeface="Aptos"/>
              </a:defRPr>
            </a:pPr>
            <a:r>
              <a:t>Proposta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679192"/>
            <a:ext cx="315468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Construir apps móveis com JavaScript/TypeScript e o modelo de componentes do React.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057400"/>
            <a:ext cx="35204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2194560"/>
            <a:ext cx="64008" cy="3063240"/>
          </a:xfrm>
          <a:prstGeom prst="rect">
            <a:avLst/>
          </a:prstGeom>
          <a:solidFill>
            <a:srgbClr val="418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2221992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2B"/>
                </a:solidFill>
                <a:latin typeface="Aptos"/>
              </a:defRPr>
            </a:pPr>
            <a:r>
              <a:t>Resultado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679192"/>
            <a:ext cx="315468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Compartilhar boa parte do código mantendo integração com recursos nativos.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6D67"/>
                </a:solidFill>
                <a:latin typeface="Aptos"/>
              </a:defRPr>
            </a:pPr>
            <a:r>
              <a:t>REACT NATIVE • GRUPOS 3 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1795F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1795F"/>
                </a:solidFill>
                <a:latin typeface="Aptos"/>
              </a:defRPr>
            </a:pPr>
            <a:r>
              <a:t>01 • 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8302B"/>
                </a:solidFill>
                <a:latin typeface="Aptos"/>
              </a:defRPr>
            </a:pPr>
            <a:r>
              <a:t>React e React Native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B6D67"/>
                </a:solidFill>
                <a:latin typeface="Aptos"/>
              </a:defRPr>
            </a:pPr>
            <a:r>
              <a:t>O modelo de programação é semelhante; o destino da renderização é diferente.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64008" cy="3063240"/>
          </a:xfrm>
          <a:prstGeom prst="rect">
            <a:avLst/>
          </a:prstGeom>
          <a:solidFill>
            <a:srgbClr val="11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219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2B"/>
                </a:solidFill>
                <a:latin typeface="Aptos"/>
              </a:defRPr>
            </a:pPr>
            <a:r>
              <a:t>React (biblioteca)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79192"/>
            <a:ext cx="484632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• Interfaces por componentes</a:t>
            </a:r>
          </a:p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• Na web usa elementos HTML</a:t>
            </a:r>
          </a:p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• Atualiza o DOM do navegador</a:t>
            </a:r>
          </a:p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Ex.: div, p, button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5740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194560"/>
            <a:ext cx="64008" cy="3063240"/>
          </a:xfrm>
          <a:prstGeom prst="rect">
            <a:avLst/>
          </a:prstGeom>
          <a:solidFill>
            <a:srgbClr val="DC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22219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2B"/>
                </a:solidFill>
                <a:latin typeface="Aptos"/>
              </a:defRPr>
            </a:pPr>
            <a:r>
              <a:t>React Native (plataforma)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679192"/>
            <a:ext cx="484632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• Usa conceitos do React</a:t>
            </a:r>
          </a:p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• Não usa HTML nem DOM do navegador</a:t>
            </a:r>
          </a:p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• Renderiza componentes de interface nativos</a:t>
            </a:r>
          </a:p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Ex.: View, Text, 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6D67"/>
                </a:solidFill>
                <a:latin typeface="Aptos"/>
              </a:defRPr>
            </a:pPr>
            <a:r>
              <a:t>REACT NATIVE • GRUPOS 3 E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1795F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1795F"/>
                </a:solidFill>
                <a:latin typeface="Aptos"/>
              </a:defRPr>
            </a:pPr>
            <a:r>
              <a:t>02 • 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8302B"/>
                </a:solidFill>
                <a:latin typeface="Aptos"/>
              </a:defRPr>
            </a:pPr>
            <a:r>
              <a:t>Como as partes se comunicam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B6D67"/>
                </a:solidFill>
                <a:latin typeface="Aptos"/>
              </a:defRPr>
            </a:pPr>
            <a:r>
              <a:t>JavaScript descreve a interface e a lógica; React Native conecta isso à plataforma.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35204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94560"/>
            <a:ext cx="64008" cy="3063240"/>
          </a:xfrm>
          <a:prstGeom prst="rect">
            <a:avLst/>
          </a:prstGeom>
          <a:solidFill>
            <a:srgbClr val="11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221992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2B"/>
                </a:solidFill>
                <a:latin typeface="Aptos"/>
              </a:defRPr>
            </a:pPr>
            <a:r>
              <a:t>JavaScript / React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79192"/>
            <a:ext cx="315468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Estado, eventos e componentes.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57400"/>
            <a:ext cx="35204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194560"/>
            <a:ext cx="64008" cy="3063240"/>
          </a:xfrm>
          <a:prstGeom prst="rect">
            <a:avLst/>
          </a:prstGeom>
          <a:solidFill>
            <a:srgbClr val="DC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221992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2B"/>
                </a:solidFill>
                <a:latin typeface="Aptos"/>
              </a:defRPr>
            </a:pPr>
            <a:r>
              <a:t>Camada de integração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679192"/>
            <a:ext cx="315468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Bridge clássica ou mecanismos modernos.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057400"/>
            <a:ext cx="35204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2194560"/>
            <a:ext cx="64008" cy="3063240"/>
          </a:xfrm>
          <a:prstGeom prst="rect">
            <a:avLst/>
          </a:prstGeom>
          <a:solidFill>
            <a:srgbClr val="418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2221992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2B"/>
                </a:solidFill>
                <a:latin typeface="Aptos"/>
              </a:defRPr>
            </a:pPr>
            <a:r>
              <a:t>Plataforma nativa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679192"/>
            <a:ext cx="315468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Android/iOS, interface e APIs do dispositivo.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8302B"/>
                </a:solidFill>
                <a:latin typeface="Aptos"/>
              </a:defRPr>
            </a:pPr>
            <a:r>
              <a:t>Fluxo: ação → estado atualizado → React calcula mudanças → React Native atualiza a interface.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6D67"/>
                </a:solidFill>
                <a:latin typeface="Aptos"/>
              </a:defRPr>
            </a:pPr>
            <a:r>
              <a:t>REACT NATIVE • GRUPOS 3 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1795F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1795F"/>
                </a:solidFill>
                <a:latin typeface="Aptos"/>
              </a:defRPr>
            </a:pPr>
            <a:r>
              <a:t>02 • 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8302B"/>
                </a:solidFill>
                <a:latin typeface="Aptos"/>
              </a:defRPr>
            </a:pPr>
            <a:r>
              <a:t>Bridge, Native Modules e Nova 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B6D67"/>
                </a:solidFill>
                <a:latin typeface="Aptos"/>
              </a:defRPr>
            </a:pPr>
            <a:r>
              <a:t>É importante distinguir a arquitetura clássica das tecnologias modernas.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35204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94560"/>
            <a:ext cx="64008" cy="3063240"/>
          </a:xfrm>
          <a:prstGeom prst="rect">
            <a:avLst/>
          </a:prstGeom>
          <a:solidFill>
            <a:srgbClr val="DC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221992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2B"/>
                </a:solidFill>
                <a:latin typeface="Aptos"/>
              </a:defRPr>
            </a:pPr>
            <a:r>
              <a:t>Bridge clássica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79192"/>
            <a:ext cx="315468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Comunicação entre JavaScript e nativo; mensagens serializadas e assíncronas podiam criar gargalos.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57400"/>
            <a:ext cx="35204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194560"/>
            <a:ext cx="64008" cy="3063240"/>
          </a:xfrm>
          <a:prstGeom prst="rect">
            <a:avLst/>
          </a:prstGeom>
          <a:solidFill>
            <a:srgbClr val="11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221992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2B"/>
                </a:solidFill>
                <a:latin typeface="Aptos"/>
              </a:defRPr>
            </a:pPr>
            <a:r>
              <a:t>Native 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679192"/>
            <a:ext cx="315468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Expõem recursos como câmera, sensores e APIs do sistema ao JavaScript.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057400"/>
            <a:ext cx="35204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2194560"/>
            <a:ext cx="64008" cy="3063240"/>
          </a:xfrm>
          <a:prstGeom prst="rect">
            <a:avLst/>
          </a:prstGeom>
          <a:solidFill>
            <a:srgbClr val="418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2221992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2B"/>
                </a:solidFill>
                <a:latin typeface="Aptos"/>
              </a:defRPr>
            </a:pPr>
            <a:r>
              <a:t>Nova Arquitetura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679192"/>
            <a:ext cx="315468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JSI, TurboModules e Fabric modernizam a integração e a renderização.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6D67"/>
                </a:solidFill>
                <a:latin typeface="Aptos"/>
              </a:defRPr>
            </a:pPr>
            <a:r>
              <a:t>REACT NATIVE • GRUPOS 3 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1795F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1795F"/>
                </a:solidFill>
                <a:latin typeface="Aptos"/>
              </a:defRPr>
            </a:pPr>
            <a:r>
              <a:t>03 •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8302B"/>
                </a:solidFill>
                <a:latin typeface="Aptos"/>
              </a:defRPr>
            </a:pPr>
            <a:r>
              <a:t>Virtual DOM e componentes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B6D67"/>
                </a:solidFill>
                <a:latin typeface="Aptos"/>
              </a:defRPr>
            </a:pPr>
            <a:r>
              <a:t>O Virtual DOM não é uma tela HTML dentro do aplicativo.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64008" cy="3063240"/>
          </a:xfrm>
          <a:prstGeom prst="rect">
            <a:avLst/>
          </a:prstGeom>
          <a:solidFill>
            <a:srgbClr val="11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219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2B"/>
                </a:solidFill>
                <a:latin typeface="Aptos"/>
              </a:defRPr>
            </a:pPr>
            <a:r>
              <a:t>Virtual DOM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79192"/>
            <a:ext cx="484632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O React calcula atualizações quando estado ou propriedades mudam. No React Native, não há aplicação ao DOM do navegador.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5740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194560"/>
            <a:ext cx="64008" cy="3063240"/>
          </a:xfrm>
          <a:prstGeom prst="rect">
            <a:avLst/>
          </a:prstGeom>
          <a:solidFill>
            <a:srgbClr val="DC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22219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2B"/>
                </a:solidFill>
                <a:latin typeface="Aptos"/>
              </a:defRPr>
            </a:pPr>
            <a:r>
              <a:t>Componentes principais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679192"/>
            <a:ext cx="484632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View: contêiner</a:t>
            </a:r>
          </a:p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Text: texto</a:t>
            </a:r>
          </a:p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Image: imagem</a:t>
            </a:r>
          </a:p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ScrollView: rolagem</a:t>
            </a:r>
          </a:p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TouchableOpacity: área de toque com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6D67"/>
                </a:solidFill>
                <a:latin typeface="Aptos"/>
              </a:defRPr>
            </a:pPr>
            <a:r>
              <a:t>REACT NATIVE • GRUPOS 3 E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1795F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1795F"/>
                </a:solidFill>
                <a:latin typeface="Aptos"/>
              </a:defRPr>
            </a:pPr>
            <a:r>
              <a:t>03 •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8302B"/>
                </a:solidFill>
                <a:latin typeface="Aptos"/>
              </a:defRPr>
            </a:pPr>
            <a:r>
              <a:t>Componentes nativos x customizados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B6D67"/>
                </a:solidFill>
                <a:latin typeface="Aptos"/>
              </a:defRPr>
            </a:pPr>
            <a:r>
              <a:t>Componentização melhora consistência, reutilização e manutenção.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64008" cy="3063240"/>
          </a:xfrm>
          <a:prstGeom prst="rect">
            <a:avLst/>
          </a:prstGeom>
          <a:solidFill>
            <a:srgbClr val="11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219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2B"/>
                </a:solidFill>
                <a:latin typeface="Aptos"/>
              </a:defRPr>
            </a:pPr>
            <a:r>
              <a:t>Nativos do React 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79192"/>
            <a:ext cx="484632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View, Text, Image e TouchableOpacity são fornecidos pelo framework e conectam a interface à plataforma.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5740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194560"/>
            <a:ext cx="64008" cy="3063240"/>
          </a:xfrm>
          <a:prstGeom prst="rect">
            <a:avLst/>
          </a:prstGeom>
          <a:solidFill>
            <a:srgbClr val="DC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22219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2B"/>
                </a:solidFill>
                <a:latin typeface="Aptos"/>
              </a:defRPr>
            </a:pPr>
            <a:r>
              <a:t>Customizados pela equipe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679192"/>
            <a:ext cx="484632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ContactCard e SectionTitle são criados no projeto, recebem props e encapsulam responsabilidades.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6D67"/>
                </a:solidFill>
                <a:latin typeface="Aptos"/>
              </a:defRPr>
            </a:pPr>
            <a:r>
              <a:t>REACT NATIVE • GRUPOS 3 E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1795F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1795F"/>
                </a:solidFill>
                <a:latin typeface="Aptos"/>
              </a:defRPr>
            </a:pPr>
            <a:r>
              <a:t>04 • APLICAÇÃO PRÁTICA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8302B"/>
                </a:solidFill>
                <a:latin typeface="Aptos"/>
              </a:defRPr>
            </a:pPr>
            <a:r>
              <a:t>App demonstrativo: Meus Contatos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B6D67"/>
                </a:solidFill>
                <a:latin typeface="Aptos"/>
              </a:defRPr>
            </a:pPr>
            <a:r>
              <a:t>Fluxo mínimo: cadastrar, listar e excluir contatos.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35204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94560"/>
            <a:ext cx="64008" cy="3063240"/>
          </a:xfrm>
          <a:prstGeom prst="rect">
            <a:avLst/>
          </a:prstGeom>
          <a:solidFill>
            <a:srgbClr val="11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221992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2B"/>
                </a:solidFill>
                <a:latin typeface="Aptos"/>
              </a:defRPr>
            </a:pPr>
            <a:r>
              <a:t>Cadastro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79192"/>
            <a:ext cx="315468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Campos de nome e telefone, com validação simples.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57400"/>
            <a:ext cx="35204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194560"/>
            <a:ext cx="64008" cy="3063240"/>
          </a:xfrm>
          <a:prstGeom prst="rect">
            <a:avLst/>
          </a:prstGeom>
          <a:solidFill>
            <a:srgbClr val="DC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221992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2B"/>
                </a:solidFill>
                <a:latin typeface="Aptos"/>
              </a:defRPr>
            </a:pPr>
            <a:r>
              <a:t>Listagem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679192"/>
            <a:ext cx="315468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Cada registro é exibido pelo componente ContactCard.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057400"/>
            <a:ext cx="35204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2194560"/>
            <a:ext cx="64008" cy="3063240"/>
          </a:xfrm>
          <a:prstGeom prst="rect">
            <a:avLst/>
          </a:prstGeom>
          <a:solidFill>
            <a:srgbClr val="418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2221992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2B"/>
                </a:solidFill>
                <a:latin typeface="Aptos"/>
              </a:defRPr>
            </a:pPr>
            <a:r>
              <a:t>Exclusão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679192"/>
            <a:ext cx="315468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Um botão remove o contato selecionado pelo identificador.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8302B"/>
                </a:solidFill>
                <a:latin typeface="Aptos"/>
              </a:defRPr>
            </a:pPr>
            <a:r>
              <a:t>Implementação: useState + StyleSheet. Os dados do exemplo ficam em memória.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6D67"/>
                </a:solidFill>
                <a:latin typeface="Aptos"/>
              </a:defRPr>
            </a:pPr>
            <a:r>
              <a:t>REACT NATIVE • GRUPOS 3 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1795F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1795F"/>
                </a:solidFill>
                <a:latin typeface="Aptos"/>
              </a:defRPr>
            </a:pPr>
            <a:r>
              <a:t>04 • APLICAÇÃO PRÁTICA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8302B"/>
                </a:solidFill>
                <a:latin typeface="Aptos"/>
              </a:defRPr>
            </a:pPr>
            <a:r>
              <a:t>Como o código foi organizado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B6D67"/>
                </a:solidFill>
                <a:latin typeface="Aptos"/>
              </a:defRPr>
            </a:pPr>
            <a:r>
              <a:t>Cada parte tem uma responsabilidade clara.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35204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94560"/>
            <a:ext cx="64008" cy="3063240"/>
          </a:xfrm>
          <a:prstGeom prst="rect">
            <a:avLst/>
          </a:prstGeom>
          <a:solidFill>
            <a:srgbClr val="11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221992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2B"/>
                </a:solidFill>
                <a:latin typeface="Aptos"/>
              </a:defRPr>
            </a:pPr>
            <a:r>
              <a:t>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79192"/>
            <a:ext cx="315468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Mantém estado com useState, valida o formulário e coordena cadastro/exclusão.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57400"/>
            <a:ext cx="35204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194560"/>
            <a:ext cx="64008" cy="3063240"/>
          </a:xfrm>
          <a:prstGeom prst="rect">
            <a:avLst/>
          </a:prstGeom>
          <a:solidFill>
            <a:srgbClr val="DC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221992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2B"/>
                </a:solidFill>
                <a:latin typeface="Aptos"/>
              </a:defRPr>
            </a:pPr>
            <a:r>
              <a:t>ContactCard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679192"/>
            <a:ext cx="315468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Recebe o contato e a função de exclusão por props.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057400"/>
            <a:ext cx="35204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2194560"/>
            <a:ext cx="64008" cy="3063240"/>
          </a:xfrm>
          <a:prstGeom prst="rect">
            <a:avLst/>
          </a:prstGeom>
          <a:solidFill>
            <a:srgbClr val="418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2221992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2B"/>
                </a:solidFill>
                <a:latin typeface="Aptos"/>
              </a:defRPr>
            </a:pPr>
            <a:r>
              <a:t>StyleSheet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679192"/>
            <a:ext cx="315468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Centraliza cores, espaçamentos e tipografia.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6D67"/>
                </a:solidFill>
                <a:latin typeface="Aptos"/>
              </a:defRPr>
            </a:pPr>
            <a:r>
              <a:t>REACT NATIVE • GRUPOS 3 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1795F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1795F"/>
                </a:solidFill>
                <a:latin typeface="Aptos"/>
              </a:defRPr>
            </a:pPr>
            <a:r>
              <a:t>05 • DESENVOLVIMENTO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8302B"/>
                </a:solidFill>
                <a:latin typeface="Aptos"/>
              </a:defRPr>
            </a:pPr>
            <a:r>
              <a:t>Hot Reload e Fast Refresh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B6D67"/>
                </a:solidFill>
                <a:latin typeface="Aptos"/>
              </a:defRPr>
            </a:pPr>
            <a:r>
              <a:t>A atualização rápida reduz o ciclo entre escrever, salvar e testar.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64008" cy="3063240"/>
          </a:xfrm>
          <a:prstGeom prst="rect">
            <a:avLst/>
          </a:prstGeom>
          <a:solidFill>
            <a:srgbClr val="DC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219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2B"/>
                </a:solidFill>
                <a:latin typeface="Aptos"/>
              </a:defRPr>
            </a:pPr>
            <a:r>
              <a:t>Hot Reload (histórico)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79192"/>
            <a:ext cx="484632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Atualização de código durante a execução; a preservação do estado podia ser limitada.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5740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194560"/>
            <a:ext cx="64008" cy="3063240"/>
          </a:xfrm>
          <a:prstGeom prst="rect">
            <a:avLst/>
          </a:prstGeom>
          <a:solidFill>
            <a:srgbClr val="11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22219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2B"/>
                </a:solidFill>
                <a:latin typeface="Aptos"/>
              </a:defRPr>
            </a:pPr>
            <a:r>
              <a:t>Fast Refresh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679192"/>
            <a:ext cx="484632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Atualiza módulos compatíveis e costuma preservar o estado; pode recarregar a aplicação se necessário.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8302B"/>
                </a:solidFill>
                <a:latin typeface="Aptos"/>
              </a:defRPr>
            </a:pPr>
            <a:r>
              <a:t>Demonstração: mude uma cor no StyleSheet, salve e observe a atualização no emulador/celular.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6D67"/>
                </a:solidFill>
                <a:latin typeface="Aptos"/>
              </a:defRPr>
            </a:pPr>
            <a:r>
              <a:t>REACT NATIVE • GRUPOS 3 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1795F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1795F"/>
                </a:solidFill>
                <a:latin typeface="Aptos"/>
              </a:defRPr>
            </a:pPr>
            <a:r>
              <a:t>06 • ANÁLISE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8302B"/>
                </a:solidFill>
                <a:latin typeface="Aptos"/>
              </a:defRPr>
            </a:pPr>
            <a:r>
              <a:t>Vantagens e desafios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5B6D67"/>
                </a:solidFill>
                <a:latin typeface="Aptos"/>
              </a:defRPr>
            </a:pPr>
            <a:r>
              <a:t>A escolha depende do aplicativo, da equipe e dos requisitos.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64008" cy="3063240"/>
          </a:xfrm>
          <a:prstGeom prst="rect">
            <a:avLst/>
          </a:prstGeom>
          <a:solidFill>
            <a:srgbClr val="11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219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2B"/>
                </a:solidFill>
                <a:latin typeface="Aptos"/>
              </a:defRPr>
            </a:pPr>
            <a:r>
              <a:t>Vantagens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79192"/>
            <a:ext cx="484632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• JavaScript/TypeScript</a:t>
            </a:r>
          </a:p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• Compartilhamento de lógica</a:t>
            </a:r>
          </a:p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• Comunidade ampla</a:t>
            </a:r>
          </a:p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• Ferramentas produtivas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57400"/>
            <a:ext cx="52120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194560"/>
            <a:ext cx="64008" cy="3063240"/>
          </a:xfrm>
          <a:prstGeom prst="rect">
            <a:avLst/>
          </a:prstGeom>
          <a:solidFill>
            <a:srgbClr val="DC8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22219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8302B"/>
                </a:solidFill>
                <a:latin typeface="Aptos"/>
              </a:defRPr>
            </a:pPr>
            <a:r>
              <a:t>Desafios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679192"/>
            <a:ext cx="484632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• Integrações nativas</a:t>
            </a:r>
          </a:p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• Compatibilidade de bibliotecas</a:t>
            </a:r>
          </a:p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• Desempenho depende da implementação</a:t>
            </a:r>
          </a:p>
          <a:p>
            <a:pPr>
              <a:spcAft>
                <a:spcPts val="700"/>
              </a:spcAft>
              <a:defRPr sz="1500" b="0">
                <a:solidFill>
                  <a:srgbClr val="5B6D67"/>
                </a:solidFill>
                <a:latin typeface="Aptos"/>
              </a:defRPr>
            </a:pPr>
            <a:r>
              <a:t>• Bridge clássica tinha gargalos em certos cenários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5B6D67"/>
                </a:solidFill>
                <a:latin typeface="Aptos"/>
              </a:defRPr>
            </a:pPr>
            <a:r>
              <a:t>REACT NATIVE • GRUPOS 3 E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1795F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99E1C6"/>
                </a:solidFill>
                <a:latin typeface="Aptos"/>
              </a:defRPr>
            </a:pPr>
            <a: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React Native combina reutilização e integração nativa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4028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E0EDE7"/>
                </a:solidFill>
                <a:latin typeface="Aptos"/>
              </a:defRPr>
            </a:pPr>
            <a:r>
              <a:t>• Compartilha o modelo de componentes do React.</a:t>
            </a:r>
          </a:p>
          <a:p>
            <a:pPr>
              <a:spcAft>
                <a:spcPts val="700"/>
              </a:spcAft>
              <a:defRPr sz="1900" b="0">
                <a:solidFill>
                  <a:srgbClr val="E0EDE7"/>
                </a:solidFill>
                <a:latin typeface="Aptos"/>
              </a:defRPr>
            </a:pPr>
            <a:r>
              <a:t>• Conecta JavaScript/TypeScript às interfaces e APIs móveis.</a:t>
            </a:r>
          </a:p>
          <a:p>
            <a:pPr>
              <a:spcAft>
                <a:spcPts val="700"/>
              </a:spcAft>
              <a:defRPr sz="1900" b="0">
                <a:solidFill>
                  <a:srgbClr val="E0EDE7"/>
                </a:solidFill>
                <a:latin typeface="Aptos"/>
              </a:defRPr>
            </a:pPr>
            <a:r>
              <a:t>• Componentização e StyleSheet ajudam na organização.</a:t>
            </a:r>
          </a:p>
          <a:p>
            <a:pPr>
              <a:spcAft>
                <a:spcPts val="700"/>
              </a:spcAft>
              <a:defRPr sz="1900" b="0">
                <a:solidFill>
                  <a:srgbClr val="E0EDE7"/>
                </a:solidFill>
                <a:latin typeface="Aptos"/>
              </a:defRPr>
            </a:pPr>
            <a:r>
              <a:t>• Fast Refresh agiliza os testes.</a:t>
            </a:r>
          </a:p>
          <a:p>
            <a:pPr>
              <a:spcAft>
                <a:spcPts val="700"/>
              </a:spcAft>
              <a:defRPr sz="1900" b="0">
                <a:solidFill>
                  <a:srgbClr val="E0EDE7"/>
                </a:solidFill>
                <a:latin typeface="Aptos"/>
              </a:defRPr>
            </a:pPr>
            <a:r>
              <a:t>• Arquitetura, compatibilidade e desempenho precisam ser considerados.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99E1C6"/>
                </a:solidFill>
                <a:latin typeface="Aptos"/>
              </a:defRPr>
            </a:pPr>
            <a:r>
              <a:t>Perguntas?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72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